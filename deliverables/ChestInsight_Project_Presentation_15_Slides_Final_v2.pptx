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5a2c3857a4d4c" /><Relationship Type="http://schemas.openxmlformats.org/officeDocument/2006/relationships/extended-properties" Target="/docProps/app.xml" Id="R82b895df5aef42aa" /><Relationship Type="http://schemas.openxmlformats.org/officeDocument/2006/relationships/officeDocument" Target="/ppt/presentation.xml" Id="R1920c156914d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bf3f4c4e94426"/>
  </p:sldMasterIdLst>
  <p:notesMasterIdLst>
    <p:notesMasterId xmlns:r="http://schemas.openxmlformats.org/officeDocument/2006/relationships" r:id="Re1c3d880f5204838"/>
  </p:notesMasterIdLst>
  <p:sldIdLst>
    <p:sldId xmlns:r="http://schemas.openxmlformats.org/officeDocument/2006/relationships" id="256" r:id="R5e92f6fe93034586"/>
    <p:sldId xmlns:r="http://schemas.openxmlformats.org/officeDocument/2006/relationships" id="257" r:id="R5af5dd8319ea4104"/>
    <p:sldId xmlns:r="http://schemas.openxmlformats.org/officeDocument/2006/relationships" id="258" r:id="R3ab67ae658364bd2"/>
    <p:sldId xmlns:r="http://schemas.openxmlformats.org/officeDocument/2006/relationships" id="259" r:id="Rf3c29bb5532a4952"/>
    <p:sldId xmlns:r="http://schemas.openxmlformats.org/officeDocument/2006/relationships" id="260" r:id="R4ff1609f891f4846"/>
    <p:sldId xmlns:r="http://schemas.openxmlformats.org/officeDocument/2006/relationships" id="261" r:id="R98cf617bdc4c47d0"/>
    <p:sldId xmlns:r="http://schemas.openxmlformats.org/officeDocument/2006/relationships" id="262" r:id="R97406ccfa3cb4c80"/>
    <p:sldId xmlns:r="http://schemas.openxmlformats.org/officeDocument/2006/relationships" id="263" r:id="Rf751dcd876ee4c07"/>
    <p:sldId xmlns:r="http://schemas.openxmlformats.org/officeDocument/2006/relationships" id="264" r:id="R3ec5996816994166"/>
    <p:sldId xmlns:r="http://schemas.openxmlformats.org/officeDocument/2006/relationships" id="265" r:id="R7019ce6541a449e5"/>
    <p:sldId xmlns:r="http://schemas.openxmlformats.org/officeDocument/2006/relationships" id="266" r:id="R4a8258d76dcd44f8"/>
    <p:sldId xmlns:r="http://schemas.openxmlformats.org/officeDocument/2006/relationships" id="267" r:id="Ra1365102f56d42ae"/>
    <p:sldId xmlns:r="http://schemas.openxmlformats.org/officeDocument/2006/relationships" id="268" r:id="Rceef0ee5fe4c4724"/>
    <p:sldId xmlns:r="http://schemas.openxmlformats.org/officeDocument/2006/relationships" id="269" r:id="Rf98fe752fd1f4c37"/>
    <p:sldId xmlns:r="http://schemas.openxmlformats.org/officeDocument/2006/relationships" id="270" r:id="Re30d59dce74b4b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1d1ecd9fd493d" /><Relationship Type="http://schemas.openxmlformats.org/officeDocument/2006/relationships/slideMaster" Target="/ppt/slideMasters/slideMaster1.xml" Id="R3d4bf3f4c4e94426" /><Relationship Type="http://schemas.openxmlformats.org/officeDocument/2006/relationships/notesMaster" Target="/ppt/notesMasters/notesMaster1.xml" Id="Re1c3d880f5204838" /><Relationship Type="http://schemas.openxmlformats.org/officeDocument/2006/relationships/presProps" Target="/ppt/presProps.xml" Id="Rec1d0b8b44c549a7" /><Relationship Type="http://schemas.openxmlformats.org/officeDocument/2006/relationships/tableStyles" Target="/ppt/tableStyles.xml" Id="R626c868f92ac4ae7" /><Relationship Type="http://schemas.openxmlformats.org/officeDocument/2006/relationships/slide" Target="/ppt/slides/slide1.xml" Id="R5e92f6fe93034586" /><Relationship Type="http://schemas.openxmlformats.org/officeDocument/2006/relationships/slide" Target="/ppt/slides/slide2.xml" Id="R5af5dd8319ea4104" /><Relationship Type="http://schemas.openxmlformats.org/officeDocument/2006/relationships/slide" Target="/ppt/slides/slide3.xml" Id="R3ab67ae658364bd2" /><Relationship Type="http://schemas.openxmlformats.org/officeDocument/2006/relationships/slide" Target="/ppt/slides/slide4.xml" Id="Rf3c29bb5532a4952" /><Relationship Type="http://schemas.openxmlformats.org/officeDocument/2006/relationships/slide" Target="/ppt/slides/slide5.xml" Id="R4ff1609f891f4846" /><Relationship Type="http://schemas.openxmlformats.org/officeDocument/2006/relationships/slide" Target="/ppt/slides/slide6.xml" Id="R98cf617bdc4c47d0" /><Relationship Type="http://schemas.openxmlformats.org/officeDocument/2006/relationships/slide" Target="/ppt/slides/slide7.xml" Id="R97406ccfa3cb4c80" /><Relationship Type="http://schemas.openxmlformats.org/officeDocument/2006/relationships/slide" Target="/ppt/slides/slide8.xml" Id="Rf751dcd876ee4c07" /><Relationship Type="http://schemas.openxmlformats.org/officeDocument/2006/relationships/slide" Target="/ppt/slides/slide9.xml" Id="R3ec5996816994166" /><Relationship Type="http://schemas.openxmlformats.org/officeDocument/2006/relationships/slide" Target="/ppt/slides/slide10.xml" Id="R7019ce6541a449e5" /><Relationship Type="http://schemas.openxmlformats.org/officeDocument/2006/relationships/slide" Target="/ppt/slides/slide11.xml" Id="R4a8258d76dcd44f8" /><Relationship Type="http://schemas.openxmlformats.org/officeDocument/2006/relationships/slide" Target="/ppt/slides/slide12.xml" Id="Ra1365102f56d42ae" /><Relationship Type="http://schemas.openxmlformats.org/officeDocument/2006/relationships/slide" Target="/ppt/slides/slide13.xml" Id="Rceef0ee5fe4c4724" /><Relationship Type="http://schemas.openxmlformats.org/officeDocument/2006/relationships/slide" Target="/ppt/slides/slide14.xml" Id="Rf98fe752fd1f4c37" /><Relationship Type="http://schemas.openxmlformats.org/officeDocument/2006/relationships/slide" Target="/ppt/slides/slide15.xml" Id="Re30d59dce74b4b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486d08486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9a47626bc4093" /><Relationship Type="http://schemas.openxmlformats.org/officeDocument/2006/relationships/notesMaster" Target="/ppt/notesMasters/notesMaster1.xml" Id="Rcc6b7278b6eb4f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e3a26b0844f32" /><Relationship Type="http://schemas.openxmlformats.org/officeDocument/2006/relationships/notesMaster" Target="/ppt/notesMasters/notesMaster1.xml" Id="R0171fe6a389e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0b6f8f7b30474f" /><Relationship Type="http://schemas.openxmlformats.org/officeDocument/2006/relationships/notesMaster" Target="/ppt/notesMasters/notesMaster1.xml" Id="Rb5994dd7564f4e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80c9dbb3b4c34" /><Relationship Type="http://schemas.openxmlformats.org/officeDocument/2006/relationships/notesMaster" Target="/ppt/notesMasters/notesMaster1.xml" Id="R11a8f557f58c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1f9e9310874b3e" /><Relationship Type="http://schemas.openxmlformats.org/officeDocument/2006/relationships/notesMaster" Target="/ppt/notesMasters/notesMaster1.xml" Id="Rc847561669234b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d166cfe03d4a99" /><Relationship Type="http://schemas.openxmlformats.org/officeDocument/2006/relationships/notesMaster" Target="/ppt/notesMasters/notesMaster1.xml" Id="R989da4143b89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8a147034642ee" /><Relationship Type="http://schemas.openxmlformats.org/officeDocument/2006/relationships/notesMaster" Target="/ppt/notesMasters/notesMaster1.xml" Id="R31c0e70ab88d44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5e99b4504b4917" /><Relationship Type="http://schemas.openxmlformats.org/officeDocument/2006/relationships/notesMaster" Target="/ppt/notesMasters/notesMaster1.xml" Id="Rf925d574559043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385bbf76174eed" /><Relationship Type="http://schemas.openxmlformats.org/officeDocument/2006/relationships/notesMaster" Target="/ppt/notesMasters/notesMaster1.xml" Id="Rf08fb9488e8b43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e4f777501b49a8" /><Relationship Type="http://schemas.openxmlformats.org/officeDocument/2006/relationships/notesMaster" Target="/ppt/notesMasters/notesMaster1.xml" Id="R0eeab50a61fd49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45f8404a7b41ce" /><Relationship Type="http://schemas.openxmlformats.org/officeDocument/2006/relationships/notesMaster" Target="/ppt/notesMasters/notesMaster1.xml" Id="R0166248c3bff40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7f81ce432499a" /><Relationship Type="http://schemas.openxmlformats.org/officeDocument/2006/relationships/notesMaster" Target="/ppt/notesMasters/notesMaster1.xml" Id="R2797b9d6e44846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ad5ab7e8fa4d45" /><Relationship Type="http://schemas.openxmlformats.org/officeDocument/2006/relationships/notesMaster" Target="/ppt/notesMasters/notesMaster1.xml" Id="R912a192fb7c34e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6fc7756554c3d" /><Relationship Type="http://schemas.openxmlformats.org/officeDocument/2006/relationships/notesMaster" Target="/ppt/notesMasters/notesMaster1.xml" Id="R8bc6e36942b24b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8346b168d7488b" /><Relationship Type="http://schemas.openxmlformats.org/officeDocument/2006/relationships/notesMaster" Target="/ppt/notesMasters/notesMaster1.xml" Id="R9bdf12459fa2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662b6232a4f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f182aa27847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a7f75ce9b4c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9fd32be164a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17f94af3940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6775763ef40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7B583-62CB-481C-BE20-B929B3EEF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ABC06C-1C69-4CE3-A652-F6A28C0ABF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8A7C1F-6C71-4AAB-9FE0-F4DD8BC56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6881D3-A674-404A-ACA2-2FA207A05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00CED5-9AF5-49B9-9F3B-302F45C8E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618E68-F64F-46CF-BBF9-6006287A7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75D80B-3687-488C-B224-579C829D7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F01224-BCF8-4988-9237-85F104684C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F26E41-E2F7-4032-946D-B52E8A5DE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0F1751-327D-4EF6-B29F-C45C07AC9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8bc2ba6c745b6" /><Relationship Type="http://schemas.openxmlformats.org/officeDocument/2006/relationships/slideLayout" Target="/ppt/slideLayouts/slideLayout1.xml" Id="R3ab04f628f864cae" /><Relationship Type="http://schemas.openxmlformats.org/officeDocument/2006/relationships/slideLayout" Target="/ppt/slideLayouts/slideLayout2.xml" Id="Rb70090616572418f" /><Relationship Type="http://schemas.openxmlformats.org/officeDocument/2006/relationships/slideLayout" Target="/ppt/slideLayouts/slideLayout3.xml" Id="Re0b28c8ee0d5445f" /><Relationship Type="http://schemas.openxmlformats.org/officeDocument/2006/relationships/slideLayout" Target="/ppt/slideLayouts/slideLayout4.xml" Id="R37de9e73482743f6" /><Relationship Type="http://schemas.openxmlformats.org/officeDocument/2006/relationships/slideLayout" Target="/ppt/slideLayouts/slideLayout5.xml" Id="R715690d3c1954ff1" /><Relationship Type="http://schemas.openxmlformats.org/officeDocument/2006/relationships/slideLayout" Target="/ppt/slideLayouts/slideLayout6.xml" Id="R89df0b46ae76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b04f628f864cae"/>
    <p:sldLayoutId xmlns:r="http://schemas.openxmlformats.org/officeDocument/2006/relationships" id="2147483650" r:id="Rb70090616572418f"/>
    <p:sldLayoutId xmlns:r="http://schemas.openxmlformats.org/officeDocument/2006/relationships" id="2147483651" r:id="Re0b28c8ee0d5445f"/>
    <p:sldLayoutId xmlns:r="http://schemas.openxmlformats.org/officeDocument/2006/relationships" id="2147483652" r:id="R37de9e73482743f6"/>
    <p:sldLayoutId xmlns:r="http://schemas.openxmlformats.org/officeDocument/2006/relationships" id="2147483653" r:id="R715690d3c1954ff1"/>
    <p:sldLayoutId xmlns:r="http://schemas.openxmlformats.org/officeDocument/2006/relationships" id="2147483654" r:id="R89df0b46ae76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59061d136411c" /><Relationship Type="http://schemas.openxmlformats.org/officeDocument/2006/relationships/image" Target="/ppt/media/image.png" Id="R39a560fbebca4639" /><Relationship Type="http://schemas.openxmlformats.org/officeDocument/2006/relationships/notesSlide" Target="/ppt/notesSlides/notesSlide1.xml" Id="R67963a2a698b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f9da70f0449c4" /><Relationship Type="http://schemas.openxmlformats.org/officeDocument/2006/relationships/image" Target="/ppt/media/image2.png" Id="Re7e1481991d8457a" /><Relationship Type="http://schemas.openxmlformats.org/officeDocument/2006/relationships/notesSlide" Target="/ppt/notesSlides/notesSlide2.xml" Id="R0ebf8c1422b544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9458400994e7a" /><Relationship Type="http://schemas.openxmlformats.org/officeDocument/2006/relationships/image" Target="/ppt/media/image3.png" Id="R60c0bc1cb2f14d41" /><Relationship Type="http://schemas.openxmlformats.org/officeDocument/2006/relationships/notesSlide" Target="/ppt/notesSlides/notesSlide3.xml" Id="R84d5da65325d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65d91b90d4423" /><Relationship Type="http://schemas.openxmlformats.org/officeDocument/2006/relationships/image" Target="/ppt/media/image4.png" Id="R171c0db84cd44a54" /><Relationship Type="http://schemas.openxmlformats.org/officeDocument/2006/relationships/notesSlide" Target="/ppt/notesSlides/notesSlide4.xml" Id="Rbd7686ad64e740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c5d1d773a45f0" /><Relationship Type="http://schemas.openxmlformats.org/officeDocument/2006/relationships/notesSlide" Target="/ppt/notesSlides/notesSlide5.xml" Id="Re156dd6d9002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3fb6259b64079" /><Relationship Type="http://schemas.openxmlformats.org/officeDocument/2006/relationships/image" Target="/ppt/media/image5.png" Id="R32c9925860b04746" /><Relationship Type="http://schemas.openxmlformats.org/officeDocument/2006/relationships/notesSlide" Target="/ppt/notesSlides/notesSlide6.xml" Id="Rd76a81bdf17f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191d44aa2444f" /><Relationship Type="http://schemas.openxmlformats.org/officeDocument/2006/relationships/notesSlide" Target="/ppt/notesSlides/notesSlide7.xml" Id="Rb84a10c99acb48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bfc0423f04f7a" /><Relationship Type="http://schemas.openxmlformats.org/officeDocument/2006/relationships/image" Target="/ppt/media/image6.png" Id="Re026b3d38d87452c" /><Relationship Type="http://schemas.openxmlformats.org/officeDocument/2006/relationships/notesSlide" Target="/ppt/notesSlides/notesSlide8.xml" Id="R5ca5cd0ab34c4f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45bd074774d4e" /><Relationship Type="http://schemas.openxmlformats.org/officeDocument/2006/relationships/image" Target="/ppt/media/image7.png" Id="R424138be28af422f" /><Relationship Type="http://schemas.openxmlformats.org/officeDocument/2006/relationships/notesSlide" Target="/ppt/notesSlides/notesSlide9.xml" Id="R4546db10f4b54d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a1e9921bd4f28" /><Relationship Type="http://schemas.openxmlformats.org/officeDocument/2006/relationships/image" Target="/ppt/media/image8.png" Id="R3842a68bfe564f17" /><Relationship Type="http://schemas.openxmlformats.org/officeDocument/2006/relationships/notesSlide" Target="/ppt/notesSlides/notesSlide10.xml" Id="R1ad1bae686cc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0c25947384ad2" /><Relationship Type="http://schemas.openxmlformats.org/officeDocument/2006/relationships/image" Target="/ppt/media/image9.png" Id="Rdb3efd6ac4284109" /><Relationship Type="http://schemas.openxmlformats.org/officeDocument/2006/relationships/notesSlide" Target="/ppt/notesSlides/notesSlide11.xml" Id="R0ea1da062b344f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3b379c70f4d30" /><Relationship Type="http://schemas.openxmlformats.org/officeDocument/2006/relationships/image" Target="/ppt/media/image10.png" Id="R6ebe0e8bd2e84512" /><Relationship Type="http://schemas.openxmlformats.org/officeDocument/2006/relationships/notesSlide" Target="/ppt/notesSlides/notesSlide12.xml" Id="R2aab01d61856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60aa8e289491f" /><Relationship Type="http://schemas.openxmlformats.org/officeDocument/2006/relationships/image" Target="/ppt/media/image11.png" Id="R112af552abf54c1a" /><Relationship Type="http://schemas.openxmlformats.org/officeDocument/2006/relationships/notesSlide" Target="/ppt/notesSlides/notesSlide13.xml" Id="Ra410c48ea26f4c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0a792d2034ac0" /><Relationship Type="http://schemas.openxmlformats.org/officeDocument/2006/relationships/notesSlide" Target="/ppt/notesSlides/notesSlide14.xml" Id="Rceae58895bda47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fa5ccb955465e" /><Relationship Type="http://schemas.openxmlformats.org/officeDocument/2006/relationships/image" Target="/ppt/media/image12.png" Id="R324640aa8bc04140" /><Relationship Type="http://schemas.openxmlformats.org/officeDocument/2006/relationships/notesSlide" Target="/ppt/notesSlides/notesSlide15.xml" Id="Rd2bad9216b1b44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97C17-F729-4513-A160-E01B4BFBD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560fbebca4639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64EA-920B-43E8-97DB-DB80BF0B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E53C0-F841-4A73-8BBE-FE36DDC7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ChestInsight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A9C31-A21B-4DC0-B92E-DB054CC8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DEBF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DEBF0"/>
                </a:solidFill>
              </a:defRPr>
            </a:pPr>
            <a:r>
              <a:rPr sz="2025" b="0">
                <a:solidFill>
                  <a:srgbClr val="DDEBF0"/>
                </a:solidFill>
              </a:rPr>
              <a:t>AI/ML-Based Multi-Class Anomaly Detection in Chest X-Ray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36D49-FDA0-4208-9954-EB03D22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18277-2C70-4ADC-96F5-BFEBF4B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8DCD7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A8DCD7"/>
                </a:solidFill>
              </a:defRPr>
            </a:pPr>
            <a:r>
              <a:rPr sz="1425" b="1">
                <a:solidFill>
                  <a:srgbClr val="A8DCD7"/>
                </a:solidFill>
              </a:rPr>
              <a:t>MATLAB-only deep learning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43783-127E-4561-978B-AF53A0FD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Detects and explains ten chest X-ray findings for research and academic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09B49-47C4-4BCA-AEB9-1AD3416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6C9D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6C9D6"/>
                </a:solidFill>
              </a:defRPr>
            </a:pPr>
            <a:r>
              <a:rPr sz="1200" b="0">
                <a:solidFill>
                  <a:srgbClr val="B6C9D6"/>
                </a:solidFill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9C990-FD5F-49F1-96F8-BB1B3B8E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6C9D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6C9D6"/>
                </a:solidFill>
              </a:defRPr>
            </a:pPr>
            <a:r>
              <a:rPr sz="1050" b="0">
                <a:solidFill>
                  <a:srgbClr val="B6C9D6"/>
                </a:solidFill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061062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87736-79A1-4FEF-B3CE-45CA236D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The clinical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AED1-EB97-4DCE-BD83-D82767BA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Chest X-rays contain visual patterns that can be subtle, overlapping, and time-consuming to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B1B74-CAAD-41A9-A607-44D7BA1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152A3-7537-42AB-81C1-37989D541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1481991d8457a"/>
          <a:srcRect xmlns:a="http://schemas.openxmlformats.org/drawingml/2006/main" l="2273" t="0" r="2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76375"/>
            <a:ext cx="4000500" cy="4191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176B0-E550-4A69-B223-BB39D5E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43B"/>
                </a:solidFill>
              </a:defRPr>
            </a:pPr>
            <a:r>
              <a:rPr sz="1800" b="1">
                <a:solidFill>
                  <a:srgbClr val="10243B"/>
                </a:solidFill>
              </a:rPr>
              <a:t>A chest X-ray may include more than one finding.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F76AB-EC31-4A46-9AED-1B733A2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676AD-962B-46AF-9468-C5FAC56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High 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41B0F-E4BD-400C-958F-735B6AC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Many images require rapid first-level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EF478-9F1A-4B41-8C71-C7BDD1D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1214B-A694-4169-BBA4-A5D1E43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Subtle patterns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9B432-B772-4472-82B8-301E9EB4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Early abnormalities may be hard to distinguish visually.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C5E16-2D82-4E5A-B409-3E79CA13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67428-E0DA-40AA-9AB9-EEF6B23A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Multiple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F3988-E6AA-47B0-A3D0-510FFE2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A single image can carry several findings at the same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510B0-2E70-43D9-A716-15C27B9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Project focus: generate consistent model scores that support review, not replace clinical judgment.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E5A62-3859-4389-B701-42DD86A6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8849F-9201-485F-8713-F3EF0B2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5162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EB3BE-4282-4A6B-B19D-F0AB7CA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Why this project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7B97-4BC6-413C-A6FA-48780E0E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A useful academic system should make the model output understandable to the person using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57A42-79AB-4613-9C83-3AAF2E3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138DA-5912-40BC-8E60-1D7E56BCE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0bc1cb2f14d41"/>
          <a:srcRect xmlns:a="http://schemas.openxmlformats.org/drawingml/2006/main" l="8750" t="0" r="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476375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2D60A-5B95-49B7-A738-C810E0F4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43B"/>
                </a:solidFill>
              </a:defRPr>
            </a:pPr>
            <a:r>
              <a:rPr sz="1875" b="1">
                <a:solidFill>
                  <a:srgbClr val="10243B"/>
                </a:solidFill>
              </a:rPr>
              <a:t>Relevance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0DE0D-A568-472B-8259-C27F6EB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D34F1-DE37-47C9-9EE3-8969D81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Faster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F9F69-E005-4032-96E3-F808E85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A score can help prioritize images that deserve closer attention.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BF708-B682-4A73-8284-CAD04F2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EBB8C-439B-46BA-A45C-046D35B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Clear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A233B-A22E-42E8-8689-C100355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04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user sees the selected disease score and its decision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5331-885E-44DE-B908-22896C2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FBC93-AC85-4A7F-8BC4-CA6AD231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Explainable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1BA5F-2D38-49C5-BC20-42B0CCA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A saliency view highlights image regions that influenced the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1AC80-47F2-4025-8E20-D59E9C0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application is designed for project demonstrations, learning, and research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73E00-8B00-4C8C-85FA-1A799DD6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90E53-800E-4033-BD57-9DD257ED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4867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36464-74E9-4441-B877-4BE86FDE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88123-A212-4E21-B2AB-B7E9985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Classify ten common chest X-ray findings and explain the selected result in a MATLAB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137A5-BD90-454A-9665-F41A0243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E6120-D74D-410A-AE83-2E2F80D3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43B"/>
                </a:solidFill>
              </a:defRPr>
            </a:pPr>
            <a:r>
              <a:rPr sz="1575" b="1">
                <a:solidFill>
                  <a:srgbClr val="10243B"/>
                </a:solidFill>
              </a:rPr>
              <a:t>The model produces an independent score for every finding.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E9A2A-4CA8-4DD5-A1E7-CA7617E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F3A83-6CA8-4116-955D-8C59FF2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Atelectasis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436C5-B1E1-4DAF-94EB-79B9E3A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CE0CC"/>
          </a:solidFill>
          <a:ln xmlns:a="http://schemas.openxmlformats.org/drawingml/2006/main" w="9525">
            <a:solidFill>
              <a:srgbClr val="E86E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CB18C-EB47-4308-8208-59A2673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Cardiomegaly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A5204-31DF-46CB-8D83-BA2D31E9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F084-872C-4BCB-8206-DCD8F9C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Effusion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F205E-C6A8-456D-85B6-1B790751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27485-E798-4808-BC26-D2A658A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Infiltration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BC8AA-3C66-4474-A794-01B85DE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DCFAB-02BC-44DB-8CC8-10879DFD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Mass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69D95-02EA-46BC-A37A-BE72E172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383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F7B7F-FE54-45E7-A52E-7708311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336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Nodule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D333E-C66D-4F24-BFC6-086CAF86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479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E80AC-9A41-4303-A684-0147570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432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Pneumonia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F0DC9-C2E5-4279-A17B-59678AE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575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B3568-5C82-436B-BF8C-FF353EB0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528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Pneumothorax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9DDD1-F72F-4279-B834-BE9B59A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671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8321A-1BA3-4720-9698-7D0EAF60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624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Consolidation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57F55-0D95-4159-8B2F-FBDAA1B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76775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00E91-E033-49A4-9CD0-657D3C2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7202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0243B"/>
                </a:solidFill>
              </a:defRPr>
            </a:pPr>
            <a:r>
              <a:rPr sz="1275" b="0">
                <a:solidFill>
                  <a:srgbClr val="10243B"/>
                </a:solidFill>
              </a:rPr>
              <a:t>Edema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EA466-750F-4F68-85BD-F9BFCD9FA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c0db84cd44a54"/>
          <a:srcRect xmlns:a="http://schemas.openxmlformats.org/drawingml/2006/main" l="9036" t="0" r="90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524000"/>
            <a:ext cx="3238500" cy="3952875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7BC9F-7B46-42C7-A435-32B64C9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483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86E1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6E1A"/>
                </a:solidFill>
              </a:defRPr>
            </a:pPr>
            <a:r>
              <a:rPr sz="1275" b="1">
                <a:solidFill>
                  <a:srgbClr val="E86E1A"/>
                </a:solidFill>
              </a:rPr>
              <a:t>Selected disease: Cardiomegaly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58A59-4D19-4B73-97A5-57263C8B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5F7BF2-A171-4510-8E87-6FBDBFB1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1186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8F6F2-CD78-4166-9745-A36C658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Solution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D612B-0BCD-4185-A48B-A54BC34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ChestInsight provides research scores and visual explanations, with clear limits on how results should be 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4DA9-AF26-43E2-AB48-F8FF8543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BE364-0AF0-4BF9-ABD7-0E0108E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095875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719E7-0220-4798-B209-BEA273F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What the system does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AD994-3E8A-43C7-9BE4-A262739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D8E3C-8863-4BCF-AB58-B91D80D0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Accepts an X-ray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03744-4D29-4CA8-A4F7-92C005C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user loads a PNG or uses the included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89172-A8B1-4E4F-BAD1-8C2A67E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36DCD-ADB7-4143-BE26-936B447A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Calculates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AFAF5-9263-43D2-855F-50A92CF3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model returns one score for each of the ten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FA3FD-C195-40B0-B75B-8FCACCF0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3116F-DA59-433E-9CFC-CD52A9CA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Shows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B1209-E4EC-4379-94C8-57891A68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result panel and saliency image explain the output.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635AC-995B-479D-BCC1-AC812589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095875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F9AF6-696A-480A-A4E2-47C9E247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47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86E1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E86E1A"/>
                </a:solidFill>
              </a:defRPr>
            </a:pPr>
            <a:r>
              <a:rPr sz="1800" b="1">
                <a:solidFill>
                  <a:srgbClr val="E86E1A"/>
                </a:solidFill>
              </a:rPr>
              <a:t>What the system does not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53255-1F66-4A16-85E0-0C422ACC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392F1-5224-4E3B-A677-6525B67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No diagnosis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99643-D31C-4D13-AA10-C849456A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33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It does not confirm disease or prescribe treatment.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92204-783D-4CDC-94E8-4BD05803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F93B2-EA2E-46AC-B423-A13AC8A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No replacement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DD37D-F2D5-454B-9AC2-395A525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It cannot replace a radiologist or clinician.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FF2BF-8473-478C-A592-DB17F0E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F7DF7-9717-4506-9AA4-03884C4B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No patient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51B92-FFB6-4B8B-ADDF-FCEA9F7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862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demo does not manage hospital records or clinical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EEAEC-13B1-4694-8190-12E1FB4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73F44-874C-4EB0-BD18-8B48FE06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4374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FFCE6-777E-4142-85B8-F7945868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Training data and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EF4F6-675F-442D-9A37-7E24B4D7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MATLAB implementation uses a pilot dataset prepared from de-identified chest X-ray images.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7B002-BA70-4F02-93A1-66C0F8F9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EEAC-28B8-4ECB-9A96-94C5AE100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9925860b04746"/>
          <a:stretch xmlns:a="http://schemas.openxmlformats.org/drawingml/2006/main"/>
        </p:blipFill>
        <p:spPr>
          <a:xfrm xmlns:a="http://schemas.openxmlformats.org/drawingml/2006/main">
            <a:off x="6705600" y="2006547"/>
            <a:ext cx="4286250" cy="2863955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A47D0-60A6-427B-962A-CD362193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43B"/>
                </a:solidFill>
              </a:defRPr>
            </a:pPr>
            <a:r>
              <a:rPr sz="1800" b="1">
                <a:solidFill>
                  <a:srgbClr val="10243B"/>
                </a:solidFill>
              </a:rPr>
              <a:t>Dataset prepared for this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7E412-CEA2-4B86-9978-3F439C9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3725C-536F-40CB-BFEF-575DCD0E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7,968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B3F59-C462-4BE7-88C0-708587C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Images were split by patient into training, validation, and test 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090A9-F4D9-4A20-9E10-CDB9AD3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0FDF3-33CF-4A41-810A-5010E9B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Ten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D8056-CFF7-4F43-8C37-77FF3E2A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Each image can have multiple labels, so the task is multi-label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F4854-915A-49C6-B349-1E46E32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E35DD-6748-48B9-A46F-ED8F61E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Held-out test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8C6B1-C2C0-4EEE-894F-4DC6834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672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A separate test split evaluates the saved model after training.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5A915-ADF5-4624-905B-2D01ED59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Source image names in the demo folder are examples only; labels can co-occur.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30972-705C-46A3-9AB1-707E95BF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9DCF4-9EC7-416D-8EAE-1900A9E9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0261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E33F2-F52A-4BA7-BA2D-8060B41C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Model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1CDDF-DF5A-4AC5-A368-7F7CB71A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A compact neural network was trained directly in MATLAB without a Python runtime.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DDC7-7C53-42CB-A777-5E03F07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F2DC9-450C-4D49-AA1F-648A09B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</a:defRPr>
            </a:pPr>
            <a:r>
              <a:rPr sz="1725" b="1">
                <a:solidFill>
                  <a:srgbClr val="10243B"/>
                </a:solidFill>
              </a:rPr>
              <a:t>Input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5621D-3833-422C-983F-C6E5F562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240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</a:defRPr>
            </a:pPr>
            <a:r>
              <a:rPr sz="1725" b="1">
                <a:solidFill>
                  <a:srgbClr val="10243B"/>
                </a:solidFill>
              </a:rPr>
              <a:t>Feature 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02B3F-709D-466D-93D5-4466E66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</a:defRPr>
            </a:pPr>
            <a:r>
              <a:rPr sz="1725" b="1">
                <a:solidFill>
                  <a:srgbClr val="10243B"/>
                </a:solidFill>
              </a:rPr>
              <a:t>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B6F10-EB33-475B-BA3D-C2482E0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43B"/>
                </a:solidFill>
              </a:defRPr>
            </a:pPr>
            <a:r>
              <a:rPr sz="1725" b="1">
                <a:solidFill>
                  <a:srgbClr val="10243B"/>
                </a:solidFill>
              </a:rPr>
              <a:t>10 output scores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CF04A-3A59-4E1F-85EE-B8329510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809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E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7C74B-7735-45CB-81D1-DBB2931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3367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32 × 32 grayscale pixels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85F46-F8DF-4C70-9E75-E5021835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B7A75"/>
                </a:solidFill>
              </a:defRPr>
            </a:pPr>
            <a:r>
              <a:rPr sz="2475" b="1">
                <a:solidFill>
                  <a:srgbClr val="0B7A7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4DFC-A4FD-48DE-8E70-35E62E60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1809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F141D-4EC2-42ED-9D63-46055F2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Normalized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AF5B6-4DB9-44DA-AEE9-6C5CBF89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B7A75"/>
                </a:solidFill>
              </a:defRPr>
            </a:pPr>
            <a:r>
              <a:rPr sz="2475" b="1">
                <a:solidFill>
                  <a:srgbClr val="0B7A7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AC5EE-801C-4821-815F-1D12586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809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E84FD-182C-40F7-B3BB-2EB0342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3367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64 + 32 ReLU layers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E180-95CF-4AA1-A0D6-E5CB90B9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B7A75"/>
                </a:solidFill>
              </a:defRPr>
            </a:pPr>
            <a:r>
              <a:rPr sz="2475" b="1">
                <a:solidFill>
                  <a:srgbClr val="0B7A7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7ADE6-EE60-4A50-BB68-0E2E47D9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1809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DDE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E1679-BD81-417B-B840-EEBDB3A3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3367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Independent sigmoid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35AC0-5A75-4B19-B0B1-29AE0C6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75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273"/>
                </a:solidFill>
              </a:defRPr>
            </a:pPr>
            <a:r>
              <a:rPr sz="1575" b="0">
                <a:solidFill>
                  <a:srgbClr val="536273"/>
                </a:solidFill>
              </a:rPr>
              <a:t>Each output represents the model’s score for one finding. A saved threshold converts the selected score into an above/below threshold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0B471-4A92-4EB1-A671-5772BC7B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8F077-69EE-481A-B8FD-8724D49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3880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Custom MATLAB training: weighted binary cross-entropy + Adam optimization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2F90F-C8B1-49A7-A5A7-F069EAC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104DF-DAC7-418B-A4C4-C0026B9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25957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F1EB2-0AFC-42D6-B878-B5A8C93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MATLAB processing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23EBD-5510-4BA1-BA95-81D5033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application performs all preprocessing, scoring, charting, and reporting within MATLAB.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68C2B-1943-48E0-8266-3E6FB24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31D33-B909-4F4A-AF67-6E31685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6778B-67E5-433F-9C0C-CCEB126B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3DD6-7F3B-4693-9E75-905384F2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311B8-F88C-4E60-AEB0-63C0D79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9775"/>
            <a:ext cx="1495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Load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5FCFE-BD7F-4885-8D63-193DF14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User selects an X-ray or opens the built-in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69B77-D202-44CB-9362-74261174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48487-E161-44E2-ACCC-DD388CF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F91DE-CD47-4BA0-91D6-71CEEDF4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BA93-BFE2-4F23-8F75-987B996B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9775"/>
            <a:ext cx="1495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Preprocess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DC16A-EA00-4B23-A91B-9F32F98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Convert to grayscale, resize to 32 × 32, and normalize pixels.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3A3FB-C5BE-48BA-AF40-DC20654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579BE-381E-4F35-999B-62AF0F6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35958-CCD2-4EDD-A8BB-2F7354D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74B53-6F60-41D5-A1E3-3FF09194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9775"/>
            <a:ext cx="1495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Predict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39120-B84F-4025-BE90-409F3672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Run the trained MLP and calculate ten disease scores.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3041F-DCEB-4424-964A-3222F45D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C54BC-E34F-43EB-87B6-760AD88B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20C5D-B8CF-45AC-BD1D-BE59BC8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99B98-4B3D-4ABA-AE4C-29B181E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9775"/>
            <a:ext cx="1495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995B0-B10F-4DD5-8C58-C711A04A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Build the saliency overlay and selected-disease chart.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A6508-A7F3-4AA3-8171-E9F7EB8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43B"/>
                </a:solidFill>
              </a:defRPr>
            </a:pPr>
            <a:r>
              <a:rPr sz="1650" b="1">
                <a:solidFill>
                  <a:srgbClr val="10243B"/>
                </a:solidFill>
              </a:rPr>
              <a:t>Output files include the original image, enhancement, saliency map, model scores, and report image.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A361C-548E-48FC-B2B2-AB38BA193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6b3d38d87452c"/>
          <a:stretch xmlns:a="http://schemas.openxmlformats.org/drawingml/2006/main"/>
        </p:blipFill>
        <p:spPr>
          <a:xfrm xmlns:a="http://schemas.openxmlformats.org/drawingml/2006/main">
            <a:off x="5053395" y="4810125"/>
            <a:ext cx="2085210" cy="1238250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3055C-3013-470F-AEDC-D704905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5D4E7-7ED3-47F9-9F0D-94D922C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4488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C4B9-E7FF-4841-AC94-272103A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ChestInsight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78875-EE58-4A06-98DF-EFE07ED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MATLAB interface brings the image, explanation map, selected score, and chart into one 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A1C1D-DDCF-4A05-9EAF-4BED5B08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78AAA-D1C0-4A26-BB47-92FAEAAFB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138be28af422f"/>
          <a:stretch xmlns:a="http://schemas.openxmlformats.org/drawingml/2006/main"/>
        </p:blipFill>
        <p:spPr>
          <a:xfrm xmlns:a="http://schemas.openxmlformats.org/drawingml/2006/main">
            <a:off x="2208274" y="1381125"/>
            <a:ext cx="7775452" cy="4724400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88ACA-EBF4-4A8B-90FC-B703A60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current application view uses Cardiomegaly as the selected finding.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2BC1C-BCCE-4E97-A43C-7077F3FD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E757E-3BF4-40BA-B35D-EA1F861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6691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2F195-132B-4C0F-9BBA-7678AEFA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How a user runs the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498DA-30FF-4B8E-826D-39A2D5D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workflow is designed for a laptop demonstration with minimal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3D756-6A94-4076-BB74-C0320B0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19154-EAFD-4696-A69E-FC38484CC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2a68bfe564f17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381125"/>
            <a:ext cx="3143250" cy="4286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D68A1-8454-4910-9B12-2717944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DA799-B789-4585-B901-B94FE8B4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84BEA-C514-48A4-B708-64D072D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F74D4-D851-4B6C-A846-617AEA73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24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Start MATLAB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9ECE8-E8AB-4A92-B60F-460B178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Open Start MATLAB App.cmd from the project folder.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F1843-B2F1-46FC-994C-28271C6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0E490-F7FB-4DB6-AA82-DE74E35E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EEDDE-E22D-4BD1-9941-DB4CDB5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621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99133-446E-4DCB-BBE0-A139F920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24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Choose X-ray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1386B-81CF-4C8F-8DF1-E38808C4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Click Choose X-ray or use the built-in example.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B2D06-2BFB-498E-A529-C80BD4AF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395AD-E0CC-46E1-B82F-68E54A7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B2B6D-F1D4-4857-A41D-66CF619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10BE1-2FD0-474D-83EA-A80957AB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29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Select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90B9E-3F45-4A39-8C48-D54B105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Choose a target condition from the drop-down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F4127-EC7C-4AA6-8852-4B2C4CE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E8F3A-2DF3-407B-939D-A89D3CCC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19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331BE-7762-4BF1-98E6-335F35D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EC282-425B-4293-B770-9C90382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29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F7618-560F-48EE-9AD5-47D80C29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Click Analyze in MATLAB to generate the visual report.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32A2B-5AC6-473E-AD9B-BE8DD53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510B5-73F5-4B4C-B588-7271B173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5626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C6A29-7483-4A8A-A84E-7F46A3A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Reading the model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F09C5-0E83-45A6-BE9F-DA3FC3CB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selected-disease panel gives a percentage, a threshold comparison, and a score chart.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27587-9183-46AE-A4F5-980C4D3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79E9F-43EC-4D80-A49F-AF29A88D8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efd6ac4284109"/>
          <a:stretch xmlns:a="http://schemas.openxmlformats.org/drawingml/2006/main"/>
        </p:blipFill>
        <p:spPr>
          <a:xfrm xmlns:a="http://schemas.openxmlformats.org/drawingml/2006/main">
            <a:off x="6915150" y="2298645"/>
            <a:ext cx="4095750" cy="2432159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28D1A-3226-4BA3-AD7D-A9EF009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43B"/>
                </a:solidFill>
              </a:defRPr>
            </a:pPr>
            <a:r>
              <a:rPr sz="1800" b="1">
                <a:solidFill>
                  <a:srgbClr val="10243B"/>
                </a:solidFill>
              </a:rPr>
              <a:t>Example from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D3F9-2024-4DFA-A7CC-C06CE002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AC3E7-E39E-4FC4-A2EE-3C9FE2D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Possibility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68D9E-7837-4D30-A379-A9BC9071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selected disease receives a model score shown as a percentage.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CD6BE-5136-47A2-A9F7-0525D6AD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A1B3-62E3-4180-ACC3-152BBD1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Threshold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D5534-1D01-45B9-AF7A-FE6DAAA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software compares that score with the saved research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843E2-0F96-4BF9-9A49-1096E81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15301-27ED-447F-9B71-7040935D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All-score 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F58B8-B85E-4239-B885-696FB72E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Orange marks the selected disease. Other bars show the remaining model scores.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FE4C1-8194-4B23-B8C8-598F3B1F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9424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94242"/>
                </a:solidFill>
              </a:defRPr>
            </a:pPr>
            <a:r>
              <a:rPr sz="1200" b="1">
                <a:solidFill>
                  <a:srgbClr val="B94242"/>
                </a:solidFill>
              </a:rPr>
              <a:t>A score is a model output. It is not a confirmed clinical probability or diagnosis.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00B07-40E3-4002-9C67-B97BC9E4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E4A20-AABF-4C7B-8612-A497F2B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272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BA736-6F3B-4928-AF89-BD972F1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Saliency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EC693-18E0-47A2-ACAA-DFB18A72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saliency overlay identifies image regions that most influenced the selected disease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156A9-73C7-4449-ABEF-5BFBA41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4A5F4-659D-4B70-B7E8-1C160195B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e0e8bd2e84512"/>
          <a:stretch xmlns:a="http://schemas.openxmlformats.org/drawingml/2006/main"/>
        </p:blipFill>
        <p:spPr>
          <a:xfrm xmlns:a="http://schemas.openxmlformats.org/drawingml/2006/main">
            <a:off x="6781800" y="1495425"/>
            <a:ext cx="38100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690DF-41DF-4CE3-9043-E77E0836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43B"/>
                </a:solidFill>
              </a:defRPr>
            </a:pPr>
            <a:r>
              <a:rPr sz="1800" b="1">
                <a:solidFill>
                  <a:srgbClr val="10243B"/>
                </a:solidFill>
              </a:rPr>
              <a:t>How to interpret the colored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61837-8914-4681-A612-04F2255B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76E2-9FC7-4640-A2A2-90F1D0D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Image gradients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58CCB-5D4C-4167-8382-F55135E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MATLAB calculates how the selected output changes with the input pixels.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37D43-9A05-481E-96FD-A0855831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2C5D8-2363-4289-9B8A-7D1D7B86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Color intensity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DC188-A64B-4387-A60C-7057286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Brighter areas had greater influence on the model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EBB08-6B27-4A90-9FAA-1A13CAA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B7BA5-D50D-4DF3-B8FA-A25EDDEF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Review aid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500CD-1130-4116-A6A1-08219A4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The overlay supports discussion of the model’s behavior during a demo.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B30E9-75B3-4150-8B75-D19B830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9424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94242"/>
                </a:solidFill>
              </a:defRPr>
            </a:pPr>
            <a:r>
              <a:rPr sz="1200" b="1">
                <a:solidFill>
                  <a:srgbClr val="B94242"/>
                </a:solidFill>
              </a:rPr>
              <a:t>Saliency does not outline a lesion and must not be treated as a diagnostic segmentation.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85FCB-EB43-478A-BBA3-77DD0DD7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62727-11F7-423A-8A4C-9491F4A5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10061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486F-B438-42E2-8E82-673DD3B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6AB60-9224-44ED-9F3D-214CE70F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saved MATLAB model was evaluated on a held-out test split after training.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C4699-88EC-44E8-9516-D151EEEA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DF989-7049-4ED4-8169-B92C5A287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af552abf54c1a"/>
          <a:stretch xmlns:a="http://schemas.openxmlformats.org/drawingml/2006/main"/>
        </p:blipFill>
        <p:spPr>
          <a:xfrm xmlns:a="http://schemas.openxmlformats.org/drawingml/2006/main">
            <a:off x="6191250" y="2235437"/>
            <a:ext cx="4762500" cy="1863251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56C43-404F-487B-9450-AEDB41B5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476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6E92-7038-471A-8C1D-F37F8DA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43B"/>
                </a:solidFill>
              </a:defRPr>
            </a:pPr>
            <a:r>
              <a:rPr sz="1800" b="1">
                <a:solidFill>
                  <a:srgbClr val="10243B"/>
                </a:solidFill>
              </a:rPr>
              <a:t>Pilot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47334-D4BC-4071-A577-55CD050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Test macro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F5BC9-051A-4265-96D7-DFA0AF95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B7A75"/>
                </a:solidFill>
              </a:defRPr>
            </a:pPr>
            <a:r>
              <a:rPr sz="2850" b="1">
                <a:solidFill>
                  <a:srgbClr val="0B7A75"/>
                </a:solidFill>
              </a:rPr>
              <a:t>0.593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83C5F-2D8B-4DB9-8CFD-AF2E4FC8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Test average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D8BA1-E68A-4089-B55D-0CA8994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86E1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86E1A"/>
                </a:solidFill>
              </a:defRPr>
            </a:pPr>
            <a:r>
              <a:rPr sz="2850" b="1">
                <a:solidFill>
                  <a:srgbClr val="E86E1A"/>
                </a:solidFill>
              </a:rPr>
              <a:t>0.117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4303B-8DF4-4762-9FE6-F30342D8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Test F1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E02FD-8662-4E03-9A71-49B8C7D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0.168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F82FF-03A1-4789-94A2-79D66D3F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These pilot metrics establish a baseline. More representative data and model development are required before clinical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D80D8-B59D-4FB1-B5AF-C6F10D2F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F617E-B691-4F42-A304-AE23849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47529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5FA605-EEED-4670-8894-5F39561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</a:defRPr>
            </a:pPr>
            <a:r>
              <a:rPr sz="2325" b="1">
                <a:solidFill>
                  <a:srgbClr val="10243B"/>
                </a:solidFill>
              </a:rPr>
              <a:t>Project strengths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C93E2-02B3-49C7-844B-035AB0C7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273"/>
                </a:solidFill>
              </a:defRPr>
            </a:pPr>
            <a:r>
              <a:rPr sz="1125" b="0">
                <a:solidFill>
                  <a:srgbClr val="536273"/>
                </a:solidFill>
              </a:rPr>
              <a:t>The project demonstrates a complete MATLAB workflow while keeping the interpretation honest.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AAEE5-D706-46F2-9E57-C11B8CC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CF6DE-62CF-461E-AC57-38A6A32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953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DC714-9172-4B3D-AAC9-4060F857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Strengths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A82EB-D282-45A9-9153-DD662A65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A2D64-4C33-46E8-B111-03B7317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MATLAB-only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EC9CA-50AA-48C1-9810-12D585EB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Runs without Python, web hosting, or cloud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4FF78-D377-4BB3-AFF7-F599A5A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F9883-78AE-43D3-972E-E541A7AF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Simple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2126E-C783-4D46-925B-F219364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Users can understand the selected score and chart quickly.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78915-12E7-46A6-8F57-65DC8109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BEC6B-2760-41DB-BAA6-D4E2685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Visible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B329F-E37D-4209-9552-2D066191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Saliency view makes the model’s focus discussable.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344D4-8F5D-46CF-9BD0-8640EAD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907FB-0EF1-4F2F-9159-3580C1BB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86E1A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E86E1A"/>
                </a:solidFill>
              </a:defRPr>
            </a:pPr>
            <a:r>
              <a:rPr sz="1800" b="1">
                <a:solidFill>
                  <a:srgbClr val="E86E1A"/>
                </a:solidFill>
              </a:rPr>
              <a:t>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8A527-4073-4191-AD6D-375A41A9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289D3-9881-44F5-9BB6-3B55B512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90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Pilot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70064-BFDC-48CE-9AFF-66E78669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479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Metrics do not support clinical deployment.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D856A-1A45-4CFE-866D-167513A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A3667-622E-46F8-8921-46295FB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051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Image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32D60-C9E6-43B9-88B0-26FE979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62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Different scanners and projections can affect scores.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F2B72-ACC1-4D4E-9F76-77F96B59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76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D44CF-1C5F-481C-BD13-E01852DD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4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43B"/>
                </a:solidFill>
              </a:defRPr>
            </a:pPr>
            <a:r>
              <a:rPr sz="1350" b="1">
                <a:solidFill>
                  <a:srgbClr val="10243B"/>
                </a:solidFill>
              </a:rPr>
              <a:t>Label uncertainty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EE142-CBCA-49C1-AF5A-DB8A26F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76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Chest X-ray labels may be incomplete or overlapping.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D6EF3-575C-407C-B606-EF0DB31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36273"/>
                </a:solidFill>
              </a:defRPr>
            </a:pPr>
            <a:r>
              <a:rPr sz="750" b="0">
                <a:solidFill>
                  <a:srgbClr val="536273"/>
                </a:solidFill>
              </a:rPr>
              <a:t>ChestInsight | MATLAB-only chest X-ray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E0481-7B0B-40BA-A358-AE92CED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536273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36273"/>
                </a:solidFill>
              </a:defRPr>
            </a:pPr>
            <a:r>
              <a:rPr sz="750" b="1">
                <a:solidFill>
                  <a:srgbClr val="53627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93536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BF0FB-D5C5-41F1-8248-F230892031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640aa8bc04140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2F538-1DDC-464B-B1D6-F5B7E17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DA2AA-98D1-40FC-ACDE-C8347F37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DC334-8B22-437B-9769-0D3B823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BF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BF0"/>
                </a:solidFill>
              </a:defRPr>
            </a:pPr>
            <a:r>
              <a:rPr sz="1875" b="0">
                <a:solidFill>
                  <a:srgbClr val="DDEBF0"/>
                </a:solidFill>
              </a:rPr>
              <a:t>ChestInsight converts a chest X-ray into understandable research scores for ten findings, plus a chart and saliency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FB66B-DC4C-4FC9-A492-1BD646B9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461B9-EB96-429C-B0AB-7934B3B2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A8DCD7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A8DCD7"/>
                </a:solidFill>
              </a:defRPr>
            </a:pPr>
            <a:r>
              <a:rPr sz="1575" b="1">
                <a:solidFill>
                  <a:srgbClr val="A8DCD7"/>
                </a:solidFill>
              </a:rPr>
              <a:t>Next project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877E9-EC5C-4230-A241-9AFF81B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Train with more verified images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Compare with a larger CNN model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Add clinician-reviewed evaluation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Improve calibration and threshold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0D19-27E7-4911-A8EA-8030515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3158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2026-10-16T04:14:35.0890000Z</dcterms:created>
  <dcterms:modified xsi:type="dcterms:W3CDTF">2026-10-16T04:14:35.0890000Z</dcterms:modified>
</coreProperties>
</file>